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09906c0-37f6-d6c0-6f9a-808a58e1d2ab}">
          <p14:sldIdLst>
            <p14:sldId id="256"/>
            <p14:sldId id="257"/>
          </p14:sldIdLst>
        </p14:section>
        <p14:section name="Design" id="{96679d27-89f3-bc00-86d6-e7dc76fbe97c}">
          <p14:sldIdLst>
            <p14:sldId id="258"/>
            <p14:sldId id="259"/>
          </p14:sldIdLst>
        </p14:section>
        <p14:section name="Capabilities" id="{c6f816ad-7445-97ac-ff66-be81209e2819}">
          <p14:sldIdLst>
            <p14:sldId id="260"/>
            <p14:sldId id="261"/>
          </p14:sldIdLst>
        </p14:section>
        <p14:section name="Reference" id="{cb4baeda-f9ba-0d53-9952-d8cb907d9ddf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completely offline voice assistant. Speech is transcribed, answered and spoken back on the same machine; no audio, prompts or documents leave it. Only two loopback ports are used: 8765 (app and backend) and 1234 (LM Studio).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chain left to right. Audio is captured in the Electron renderer and posted to /transcribe; faster-whisper (small, int8, CPU) returns text; /chat sends it to LM Studio; Piper synthesises the answer; the app plays the WAV. No remote API calls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terminal (listen.py) and Gradio (app.py) versions are standalone and simpler: no tool calling and no document Q&amp;A. The Electron app plus server.py is the full version. Electron security: contextIsolation true, nodeIntegration false, and a content-security policy that only allows 127.0.0.1:8765.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Decoupled: Electron renderer and main process on the left, FastAPI in the middle, LM Studio and local files on the right. The backend owns speech-to-text, the agent loop, document search and speech synthesis. The server binds to 127.0.0.1.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tools in total. Reads: get_datetime, get_system_info, list_directory (60 entries), search_files (25 results), read_file (50 KB limit, 4,000 characters out), pkg_search, list_installed. Writes: create_note and move_file. Eight rounds maximum per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 live in server.py: 300-word chunks with 80 words of overlap, RAG_K = 8, RAG_THRESHOLD = 0.15. The embedding model is auto-detected in LM Studio (names containing embed, e5, bge or gte). Uploads accept PDF, TXT and Markdown.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a standard open runtime talking over loopback ports 1234 and 8765. The server uses faster-whisper small on CPU with int8; Whisper is set to English. Platform note: requirements.txt marks piper-tts as Linux-only.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privacy point: transcription, reasoning and speech all run locally, so confidential documents and voice never leave the machine. Offline use works for the same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309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6908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On-device voice assistant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rt line"/>
          <p:cNvSpPr txBox="1"/>
          <p:nvPr/>
        </p:nvSpPr>
        <p:spPr>
          <a:xfrm>
            <a:off x="54864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 1234 · 8765 · local inference only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01168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A fully on-device voice assistant</a:t>
            </a:r>
            <a:endParaRPr lang="en-US" sz="5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069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Speech-to-text, a local LLM, document Q&amp;A and system tools, with no cloud services</a:t>
            </a:r>
            <a:endParaRPr lang="en-US" sz="2000" dirty="0"/>
          </a:p>
        </p:txBody>
      </p:sp>
      <p:sp>
        <p:nvSpPr>
          <p:cNvPr id="5" name="Stack line"/>
          <p:cNvSpPr txBox="1"/>
          <p:nvPr/>
        </p:nvSpPr>
        <p:spPr>
          <a:xfrm>
            <a:off x="548640" y="5989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Whisper · LM Studio · Piper · FastAPI · Electron 35</a:t>
            </a:r>
            <a:endParaRPr lang="en-US" sz="1400" dirty="0"/>
          </a:p>
        </p:txBody>
      </p:sp>
      <p:sp>
        <p:nvSpPr>
          <p:cNvPr id="6" name="Wave bar 1"/>
          <p:cNvSpPr/>
          <p:nvPr/>
        </p:nvSpPr>
        <p:spPr>
          <a:xfrm>
            <a:off x="7086600" y="3206766"/>
            <a:ext cx="100584" cy="444469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7" name="Wave bar 2"/>
          <p:cNvSpPr/>
          <p:nvPr/>
        </p:nvSpPr>
        <p:spPr>
          <a:xfrm>
            <a:off x="7251192" y="3164777"/>
            <a:ext cx="100584" cy="528445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8" name="Wave bar 3"/>
          <p:cNvSpPr/>
          <p:nvPr/>
        </p:nvSpPr>
        <p:spPr>
          <a:xfrm>
            <a:off x="7415784" y="3116402"/>
            <a:ext cx="100584" cy="625196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9" name="Wave bar 4"/>
          <p:cNvSpPr/>
          <p:nvPr/>
        </p:nvSpPr>
        <p:spPr>
          <a:xfrm>
            <a:off x="7580376" y="3079055"/>
            <a:ext cx="100584" cy="699889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10" name="Wave bar 5"/>
          <p:cNvSpPr/>
          <p:nvPr/>
        </p:nvSpPr>
        <p:spPr>
          <a:xfrm>
            <a:off x="7744968" y="2951122"/>
            <a:ext cx="100584" cy="955755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11" name="Wave bar 6"/>
          <p:cNvSpPr/>
          <p:nvPr/>
        </p:nvSpPr>
        <p:spPr>
          <a:xfrm>
            <a:off x="7909560" y="2976432"/>
            <a:ext cx="100584" cy="905136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12" name="Wave bar 7"/>
          <p:cNvSpPr/>
          <p:nvPr/>
        </p:nvSpPr>
        <p:spPr>
          <a:xfrm>
            <a:off x="8074152" y="2704870"/>
            <a:ext cx="100584" cy="1448260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13" name="Wave bar 8"/>
          <p:cNvSpPr/>
          <p:nvPr/>
        </p:nvSpPr>
        <p:spPr>
          <a:xfrm>
            <a:off x="8238744" y="2891074"/>
            <a:ext cx="100584" cy="1075852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14" name="Wave bar 9"/>
          <p:cNvSpPr/>
          <p:nvPr/>
        </p:nvSpPr>
        <p:spPr>
          <a:xfrm>
            <a:off x="8403336" y="2414845"/>
            <a:ext cx="100584" cy="2028311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15" name="Wave bar 10"/>
          <p:cNvSpPr/>
          <p:nvPr/>
        </p:nvSpPr>
        <p:spPr>
          <a:xfrm>
            <a:off x="8567928" y="2673806"/>
            <a:ext cx="100584" cy="1510389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16" name="Wave bar 11"/>
          <p:cNvSpPr/>
          <p:nvPr/>
        </p:nvSpPr>
        <p:spPr>
          <a:xfrm>
            <a:off x="8732520" y="2165288"/>
            <a:ext cx="100584" cy="252742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Wave bar 12"/>
          <p:cNvSpPr/>
          <p:nvPr/>
        </p:nvSpPr>
        <p:spPr>
          <a:xfrm>
            <a:off x="8897112" y="2376192"/>
            <a:ext cx="100584" cy="21056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Wave bar 13"/>
          <p:cNvSpPr/>
          <p:nvPr/>
        </p:nvSpPr>
        <p:spPr>
          <a:xfrm>
            <a:off x="9061704" y="2052914"/>
            <a:ext cx="100584" cy="275217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9" name="Wave bar 14"/>
          <p:cNvSpPr/>
          <p:nvPr/>
        </p:nvSpPr>
        <p:spPr>
          <a:xfrm>
            <a:off x="9226296" y="2141164"/>
            <a:ext cx="100584" cy="2575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Wave bar 15"/>
          <p:cNvSpPr/>
          <p:nvPr/>
        </p:nvSpPr>
        <p:spPr>
          <a:xfrm>
            <a:off x="9390888" y="2128904"/>
            <a:ext cx="100584" cy="26001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Wave bar 16"/>
          <p:cNvSpPr/>
          <p:nvPr/>
        </p:nvSpPr>
        <p:spPr>
          <a:xfrm>
            <a:off x="9555480" y="2061735"/>
            <a:ext cx="100584" cy="2734529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Wave bar 17"/>
          <p:cNvSpPr/>
          <p:nvPr/>
        </p:nvSpPr>
        <p:spPr>
          <a:xfrm>
            <a:off x="9720072" y="2362893"/>
            <a:ext cx="100584" cy="2132213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Wave bar 18"/>
          <p:cNvSpPr/>
          <p:nvPr/>
        </p:nvSpPr>
        <p:spPr>
          <a:xfrm>
            <a:off x="9884664" y="2169713"/>
            <a:ext cx="100584" cy="251857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Wave bar 19"/>
          <p:cNvSpPr/>
          <p:nvPr/>
        </p:nvSpPr>
        <p:spPr>
          <a:xfrm>
            <a:off x="10049256" y="2662114"/>
            <a:ext cx="100584" cy="1533773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25" name="Wave bar 20"/>
          <p:cNvSpPr/>
          <p:nvPr/>
        </p:nvSpPr>
        <p:spPr>
          <a:xfrm>
            <a:off x="10213848" y="2415607"/>
            <a:ext cx="100584" cy="2026785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26" name="Wave bar 21"/>
          <p:cNvSpPr/>
          <p:nvPr/>
        </p:nvSpPr>
        <p:spPr>
          <a:xfrm>
            <a:off x="10378440" y="2899528"/>
            <a:ext cx="100584" cy="1058944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27" name="Wave bar 22"/>
          <p:cNvSpPr/>
          <p:nvPr/>
        </p:nvSpPr>
        <p:spPr>
          <a:xfrm>
            <a:off x="10543032" y="2703628"/>
            <a:ext cx="100584" cy="1450745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28" name="Wave bar 23"/>
          <p:cNvSpPr/>
          <p:nvPr/>
        </p:nvSpPr>
        <p:spPr>
          <a:xfrm>
            <a:off x="10707624" y="2981473"/>
            <a:ext cx="100584" cy="895054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29" name="Wave bar 24"/>
          <p:cNvSpPr/>
          <p:nvPr/>
        </p:nvSpPr>
        <p:spPr>
          <a:xfrm>
            <a:off x="10872216" y="2949412"/>
            <a:ext cx="100584" cy="959177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30" name="Wave bar 25"/>
          <p:cNvSpPr/>
          <p:nvPr/>
        </p:nvSpPr>
        <p:spPr>
          <a:xfrm>
            <a:off x="11036808" y="3081517"/>
            <a:ext cx="100584" cy="694966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31" name="Wave bar 26"/>
          <p:cNvSpPr/>
          <p:nvPr/>
        </p:nvSpPr>
        <p:spPr>
          <a:xfrm>
            <a:off x="11201400" y="3115065"/>
            <a:ext cx="100584" cy="627870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32" name="Wave bar 27"/>
          <p:cNvSpPr/>
          <p:nvPr/>
        </p:nvSpPr>
        <p:spPr>
          <a:xfrm>
            <a:off x="11365992" y="3165740"/>
            <a:ext cx="100584" cy="526520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  <p:sp>
        <p:nvSpPr>
          <p:cNvPr id="33" name="Wave bar 28"/>
          <p:cNvSpPr/>
          <p:nvPr/>
        </p:nvSpPr>
        <p:spPr>
          <a:xfrm>
            <a:off x="11530584" y="3205988"/>
            <a:ext cx="100584" cy="446024"/>
          </a:xfrm>
          <a:prstGeom prst="rect">
            <a:avLst/>
          </a:prstGeom>
          <a:solidFill>
            <a:schemeClr val="bg1">
              <a:alpha val="28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 step runs on the machine</a:t>
            </a:r>
            <a:endParaRPr lang="en-US" sz="3600" dirty="0"/>
          </a:p>
        </p:txBody>
      </p:sp>
      <p:sp>
        <p:nvSpPr>
          <p:cNvPr id="3" name="Stage Microphone"/>
          <p:cNvSpPr txBox="1"/>
          <p:nvPr/>
        </p:nvSpPr>
        <p:spPr>
          <a:xfrm>
            <a:off x="548640" y="1783080"/>
            <a:ext cx="192024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Microphone</a:t>
            </a:r>
            <a:endParaRPr lang="en-US" sz="20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Audio</a:t>
            </a:r>
            <a:endParaRPr lang="en-US" sz="2000" dirty="0"/>
          </a:p>
        </p:txBody>
      </p:sp>
      <p:sp>
        <p:nvSpPr>
          <p:cNvPr id="4" name="Stage text 1"/>
          <p:cNvSpPr txBox="1"/>
          <p:nvPr/>
        </p:nvSpPr>
        <p:spPr>
          <a:xfrm>
            <a:off x="54864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app records audio and sends it as raw PCM.</a:t>
            </a:r>
            <a:endParaRPr lang="en-US" sz="1400" dirty="0"/>
          </a:p>
        </p:txBody>
      </p:sp>
      <p:sp>
        <p:nvSpPr>
          <p:cNvPr id="5" name="Arrow 1"/>
          <p:cNvSpPr/>
          <p:nvPr/>
        </p:nvSpPr>
        <p:spPr>
          <a:xfrm>
            <a:off x="2523744" y="2308860"/>
            <a:ext cx="2560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tage faster-whisper"/>
          <p:cNvSpPr txBox="1"/>
          <p:nvPr/>
        </p:nvSpPr>
        <p:spPr>
          <a:xfrm>
            <a:off x="2834640" y="1783080"/>
            <a:ext cx="192024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faster-whisper</a:t>
            </a:r>
            <a:endParaRPr lang="en-US" sz="20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small</a:t>
            </a:r>
            <a:endParaRPr lang="en-US" sz="2000" dirty="0"/>
          </a:p>
        </p:txBody>
      </p:sp>
      <p:sp>
        <p:nvSpPr>
          <p:cNvPr id="7" name="Stage text 2"/>
          <p:cNvSpPr txBox="1"/>
          <p:nvPr/>
        </p:nvSpPr>
        <p:spPr>
          <a:xfrm>
            <a:off x="283464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Transcribes on CPU with voice activity filtering.</a:t>
            </a:r>
            <a:endParaRPr lang="en-US" sz="1400" dirty="0"/>
          </a:p>
        </p:txBody>
      </p:sp>
      <p:sp>
        <p:nvSpPr>
          <p:cNvPr id="8" name="Arrow 2"/>
          <p:cNvSpPr/>
          <p:nvPr/>
        </p:nvSpPr>
        <p:spPr>
          <a:xfrm>
            <a:off x="4809744" y="2308860"/>
            <a:ext cx="2560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tage LM Studio"/>
          <p:cNvSpPr txBox="1"/>
          <p:nvPr/>
        </p:nvSpPr>
        <p:spPr>
          <a:xfrm>
            <a:off x="5120640" y="1783080"/>
            <a:ext cx="1920240" cy="10515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LM Studio</a:t>
            </a:r>
            <a:endParaRPr lang="en-US" sz="20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:1234/v1</a:t>
            </a:r>
            <a:endParaRPr lang="en-US" sz="2000" dirty="0"/>
          </a:p>
        </p:txBody>
      </p:sp>
      <p:sp>
        <p:nvSpPr>
          <p:cNvPr id="10" name="Stage text 3"/>
          <p:cNvSpPr txBox="1"/>
          <p:nvPr/>
        </p:nvSpPr>
        <p:spPr>
          <a:xfrm>
            <a:off x="512064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the chat model and tool calls through an OpenAI-compatible API.</a:t>
            </a:r>
            <a:endParaRPr lang="en-US" sz="1400" dirty="0"/>
          </a:p>
        </p:txBody>
      </p:sp>
      <p:sp>
        <p:nvSpPr>
          <p:cNvPr id="11" name="Arrow 3"/>
          <p:cNvSpPr/>
          <p:nvPr/>
        </p:nvSpPr>
        <p:spPr>
          <a:xfrm>
            <a:off x="7095744" y="2308860"/>
            <a:ext cx="2560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tage Piper"/>
          <p:cNvSpPr txBox="1"/>
          <p:nvPr/>
        </p:nvSpPr>
        <p:spPr>
          <a:xfrm>
            <a:off x="7406640" y="1783080"/>
            <a:ext cx="192024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Piper</a:t>
            </a:r>
            <a:endParaRPr lang="en-US" sz="20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ONNX voice</a:t>
            </a:r>
            <a:endParaRPr lang="en-US" sz="2000" dirty="0"/>
          </a:p>
        </p:txBody>
      </p:sp>
      <p:sp>
        <p:nvSpPr>
          <p:cNvPr id="13" name="Stage text 4"/>
          <p:cNvSpPr txBox="1"/>
          <p:nvPr/>
        </p:nvSpPr>
        <p:spPr>
          <a:xfrm>
            <a:off x="740664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Turns the reply into a WAV with an offline voice.</a:t>
            </a:r>
            <a:endParaRPr lang="en-US" sz="1400" dirty="0"/>
          </a:p>
        </p:txBody>
      </p:sp>
      <p:sp>
        <p:nvSpPr>
          <p:cNvPr id="14" name="Arrow 4"/>
          <p:cNvSpPr/>
          <p:nvPr/>
        </p:nvSpPr>
        <p:spPr>
          <a:xfrm>
            <a:off x="9381744" y="2308860"/>
            <a:ext cx="256032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tage Speaker"/>
          <p:cNvSpPr txBox="1"/>
          <p:nvPr/>
        </p:nvSpPr>
        <p:spPr>
          <a:xfrm>
            <a:off x="9692640" y="1783080"/>
            <a:ext cx="1920240" cy="10515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00" tIns="152400" rIns="152400" bIns="762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Speaker</a:t>
            </a:r>
            <a:endParaRPr lang="en-US" sz="20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app</a:t>
            </a:r>
            <a:endParaRPr lang="en-US" sz="2000" dirty="0"/>
          </a:p>
        </p:txBody>
      </p:sp>
      <p:sp>
        <p:nvSpPr>
          <p:cNvPr id="16" name="Stage text 5"/>
          <p:cNvSpPr txBox="1"/>
          <p:nvPr/>
        </p:nvSpPr>
        <p:spPr>
          <a:xfrm>
            <a:off x="9692640" y="30632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Plays it back; speed adjustable from 1x to 3x.</a:t>
            </a:r>
            <a:endParaRPr lang="en-US" sz="1400" dirty="0"/>
          </a:p>
        </p:txBody>
      </p:sp>
      <p:sp>
        <p:nvSpPr>
          <p:cNvPr id="17" name="Ports statement"/>
          <p:cNvSpPr txBox="1"/>
          <p:nvPr/>
        </p:nvSpPr>
        <p:spPr>
          <a:xfrm>
            <a:off x="548640" y="4206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Two loopback ports carry everything: </a:t>
            </a:r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8765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between the app and its backend, </a:t>
            </a:r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between the backend and LM Studio.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Three ways in; Electron does the most</a:t>
            </a:r>
            <a:endParaRPr lang="en-US" sz="3600" dirty="0"/>
          </a:p>
        </p:txBody>
      </p:sp>
      <p:graphicFrame>
        <p:nvGraphicFramePr>
          <p:cNvPr id="4" name="Interfac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560320"/>
                <a:gridCol w="2404872"/>
                <a:gridCol w="914400"/>
                <a:gridCol w="1005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Interface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Run with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Input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Replies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Tools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Documents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Terminal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listen.py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Enter to start and stop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Spoken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Gradio web UI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./launch.sh  :7860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Browser microphone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Spoken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Electron app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 start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Voice or typed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Spoken, adjustable speed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Preload note"/>
          <p:cNvSpPr txBox="1"/>
          <p:nvPr/>
        </p:nvSpPr>
        <p:spPr>
          <a:xfrm>
            <a:off x="548640" y="40690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Preload isolation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page gets a narrow bridge only: the server URL, a log stream and the clipboard. contextIsolation is on and nodeIntegration is off.</a:t>
            </a:r>
            <a:endParaRPr lang="en-US" sz="2200" dirty="0"/>
          </a:p>
        </p:txBody>
      </p:sp>
      <p:sp>
        <p:nvSpPr>
          <p:cNvPr id="5" name="Lifecycle note"/>
          <p:cNvSpPr txBox="1"/>
          <p:nvPr/>
        </p:nvSpPr>
        <p:spPr>
          <a:xfrm>
            <a:off x="6291072" y="406908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Process lifecycle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main process starts the Python backend, mirrors its logs into DevTools and offers a Restart Python Server menu item. Quitting the app stops the backend.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thin desktop shell over a local backend</a:t>
            </a:r>
            <a:endParaRPr lang="en-US" sz="3600" dirty="0"/>
          </a:p>
        </p:txBody>
      </p:sp>
      <p:sp>
        <p:nvSpPr>
          <p:cNvPr id="3" name="Container Electron app"/>
          <p:cNvSpPr/>
          <p:nvPr/>
        </p:nvSpPr>
        <p:spPr>
          <a:xfrm>
            <a:off x="548640" y="1600200"/>
            <a:ext cx="3017520" cy="4206240"/>
          </a:xfrm>
          <a:prstGeom prst="rect">
            <a:avLst/>
          </a:prstGeom>
          <a:ln w="15875">
            <a:solidFill>
              <a:schemeClr val="accent4"/>
            </a:solidFill>
            <a:prstDash val="solid"/>
          </a:ln>
        </p:spPr>
      </p:sp>
      <p:sp>
        <p:nvSpPr>
          <p:cNvPr id="4" name="Container FastAPI backend"/>
          <p:cNvSpPr/>
          <p:nvPr/>
        </p:nvSpPr>
        <p:spPr>
          <a:xfrm>
            <a:off x="4572000" y="1600200"/>
            <a:ext cx="3383280" cy="4206240"/>
          </a:xfrm>
          <a:prstGeom prst="rect">
            <a:avLst/>
          </a:prstGeom>
          <a:solidFill>
            <a:schemeClr val="accent1">
              <a:alpha val="8000"/>
            </a:schemeClr>
          </a:solidFill>
          <a:ln w="22225">
            <a:solidFill>
              <a:schemeClr val="accent1"/>
            </a:solidFill>
            <a:prstDash val="solid"/>
          </a:ln>
        </p:spPr>
      </p:sp>
      <p:sp>
        <p:nvSpPr>
          <p:cNvPr id="5" name="Label Electron app"/>
          <p:cNvSpPr txBox="1"/>
          <p:nvPr/>
        </p:nvSpPr>
        <p:spPr>
          <a:xfrm>
            <a:off x="731520" y="1709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Electron app</a:t>
            </a:r>
            <a:endParaRPr lang="en-US" sz="1600" dirty="0"/>
          </a:p>
        </p:txBody>
      </p:sp>
      <p:sp>
        <p:nvSpPr>
          <p:cNvPr id="6" name="Label FastAPI backend"/>
          <p:cNvSpPr txBox="1"/>
          <p:nvPr/>
        </p:nvSpPr>
        <p:spPr>
          <a:xfrm>
            <a:off x="4754880" y="17099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FastAPI backend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:8765</a:t>
            </a:r>
            <a:endParaRPr lang="en-US" sz="1600" dirty="0"/>
          </a:p>
        </p:txBody>
      </p:sp>
      <p:sp>
        <p:nvSpPr>
          <p:cNvPr id="7" name="Label Local services"/>
          <p:cNvSpPr txBox="1"/>
          <p:nvPr/>
        </p:nvSpPr>
        <p:spPr>
          <a:xfrm>
            <a:off x="8961120" y="1709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Local services</a:t>
            </a:r>
            <a:endParaRPr lang="en-US" sz="1600" dirty="0"/>
          </a:p>
        </p:txBody>
      </p:sp>
      <p:sp>
        <p:nvSpPr>
          <p:cNvPr id="8" name="Node Renderer"/>
          <p:cNvSpPr txBox="1"/>
          <p:nvPr/>
        </p:nvSpPr>
        <p:spPr>
          <a:xfrm>
            <a:off x="731520" y="2103120"/>
            <a:ext cx="2651760" cy="1143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Renderer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Chat UI and Markdown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Mic capture and playback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Document panel</a:t>
            </a:r>
            <a:endParaRPr lang="en-US" sz="1400" dirty="0"/>
          </a:p>
        </p:txBody>
      </p:sp>
      <p:sp>
        <p:nvSpPr>
          <p:cNvPr id="9" name="Node Preload"/>
          <p:cNvSpPr txBox="1"/>
          <p:nvPr/>
        </p:nvSpPr>
        <p:spPr>
          <a:xfrm>
            <a:off x="731520" y="3543300"/>
            <a:ext cx="2651760" cy="8229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Preload bridge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Narrow, safe API for the page</a:t>
            </a:r>
            <a:endParaRPr lang="en-US" sz="1400" dirty="0"/>
          </a:p>
        </p:txBody>
      </p:sp>
      <p:sp>
        <p:nvSpPr>
          <p:cNvPr id="10" name="Node Main process"/>
          <p:cNvSpPr txBox="1"/>
          <p:nvPr/>
        </p:nvSpPr>
        <p:spPr>
          <a:xfrm>
            <a:off x="731520" y="4663440"/>
            <a:ext cx="2651760" cy="914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Main process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Starts and stops the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Python backend</a:t>
            </a:r>
            <a:endParaRPr lang="en-US" sz="1400" dirty="0"/>
          </a:p>
        </p:txBody>
      </p:sp>
      <p:sp>
        <p:nvSpPr>
          <p:cNvPr id="11" name="Node Speech-to-text"/>
          <p:cNvSpPr txBox="1"/>
          <p:nvPr/>
        </p:nvSpPr>
        <p:spPr>
          <a:xfrm>
            <a:off x="4754880" y="2103120"/>
            <a:ext cx="301752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Speech-to-text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faster-whisper, small</a:t>
            </a:r>
            <a:endParaRPr lang="en-US" sz="1400" dirty="0"/>
          </a:p>
        </p:txBody>
      </p:sp>
      <p:sp>
        <p:nvSpPr>
          <p:cNvPr id="12" name="Node Agent loop"/>
          <p:cNvSpPr txBox="1"/>
          <p:nvPr/>
        </p:nvSpPr>
        <p:spPr>
          <a:xfrm>
            <a:off x="4754880" y="3017520"/>
            <a:ext cx="301752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Agent loop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Up to 8 tool-call rounds</a:t>
            </a:r>
            <a:endParaRPr lang="en-US" sz="1400" dirty="0"/>
          </a:p>
        </p:txBody>
      </p:sp>
      <p:sp>
        <p:nvSpPr>
          <p:cNvPr id="13" name="Node Document search"/>
          <p:cNvSpPr txBox="1"/>
          <p:nvPr/>
        </p:nvSpPr>
        <p:spPr>
          <a:xfrm>
            <a:off x="4754880" y="3931920"/>
            <a:ext cx="301752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 search (RAG)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Chunk, embed, retrieve</a:t>
            </a:r>
            <a:endParaRPr lang="en-US" sz="1400" dirty="0"/>
          </a:p>
        </p:txBody>
      </p:sp>
      <p:sp>
        <p:nvSpPr>
          <p:cNvPr id="14" name="Node Speech synthesis"/>
          <p:cNvSpPr txBox="1"/>
          <p:nvPr/>
        </p:nvSpPr>
        <p:spPr>
          <a:xfrm>
            <a:off x="4754880" y="4846320"/>
            <a:ext cx="3017520" cy="7315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Speech synthesis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Piper voice, WAV reply</a:t>
            </a:r>
            <a:endParaRPr lang="en-US" sz="1400" dirty="0"/>
          </a:p>
        </p:txBody>
      </p:sp>
      <p:sp>
        <p:nvSpPr>
          <p:cNvPr id="15" name="Node LM Studio"/>
          <p:cNvSpPr txBox="1"/>
          <p:nvPr/>
        </p:nvSpPr>
        <p:spPr>
          <a:xfrm>
            <a:off x="8961120" y="2103120"/>
            <a:ext cx="2679192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LM Studio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Local chat model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Embedding model for RAG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localhost:1234/v1</a:t>
            </a:r>
            <a:endParaRPr lang="en-US" sz="1400" dirty="0"/>
          </a:p>
        </p:txBody>
      </p:sp>
      <p:sp>
        <p:nvSpPr>
          <p:cNvPr id="16" name="Node Local files"/>
          <p:cNvSpPr txBox="1"/>
          <p:nvPr/>
        </p:nvSpPr>
        <p:spPr>
          <a:xfrm>
            <a:off x="8961120" y="4617720"/>
            <a:ext cx="2679192" cy="11887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50800" tIns="127000" rIns="127000" bIns="508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Local files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Piper voices (.onnx)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RAG store (JSON)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Notes in ~/VoiceNotes</a:t>
            </a:r>
            <a:endParaRPr lang="en-US" sz="1400" dirty="0"/>
          </a:p>
        </p:txBody>
      </p:sp>
      <p:sp>
        <p:nvSpPr>
          <p:cNvPr id="17" name="Arrow http"/>
          <p:cNvSpPr/>
          <p:nvPr/>
        </p:nvSpPr>
        <p:spPr>
          <a:xfrm>
            <a:off x="3566160" y="2651760"/>
            <a:ext cx="10058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Arrow label http"/>
          <p:cNvSpPr txBox="1"/>
          <p:nvPr/>
        </p:nvSpPr>
        <p:spPr>
          <a:xfrm>
            <a:off x="356616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HTTP</a:t>
            </a:r>
            <a:endParaRPr lang="en-US" sz="1200" dirty="0"/>
          </a:p>
        </p:txBody>
      </p:sp>
      <p:sp>
        <p:nvSpPr>
          <p:cNvPr id="19" name="Arrow starts"/>
          <p:cNvSpPr/>
          <p:nvPr/>
        </p:nvSpPr>
        <p:spPr>
          <a:xfrm>
            <a:off x="3566160" y="5120640"/>
            <a:ext cx="10058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Arrow label starts"/>
          <p:cNvSpPr txBox="1"/>
          <p:nvPr/>
        </p:nvSpPr>
        <p:spPr>
          <a:xfrm>
            <a:off x="3566160" y="4846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starts</a:t>
            </a:r>
            <a:endParaRPr lang="en-US" sz="1200" dirty="0"/>
          </a:p>
        </p:txBody>
      </p:sp>
      <p:sp>
        <p:nvSpPr>
          <p:cNvPr id="21" name="Arrow api"/>
          <p:cNvSpPr/>
          <p:nvPr/>
        </p:nvSpPr>
        <p:spPr>
          <a:xfrm>
            <a:off x="7955280" y="3154680"/>
            <a:ext cx="10058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Arrow label api"/>
          <p:cNvSpPr txBox="1"/>
          <p:nvPr/>
        </p:nvSpPr>
        <p:spPr>
          <a:xfrm>
            <a:off x="7955280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OpenAI API</a:t>
            </a:r>
            <a:endParaRPr lang="en-US" sz="1200" dirty="0"/>
          </a:p>
        </p:txBody>
      </p:sp>
      <p:sp>
        <p:nvSpPr>
          <p:cNvPr id="23" name="Arrow files"/>
          <p:cNvSpPr/>
          <p:nvPr/>
        </p:nvSpPr>
        <p:spPr>
          <a:xfrm>
            <a:off x="7955280" y="5212080"/>
            <a:ext cx="100584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Arrow label files"/>
          <p:cNvSpPr txBox="1"/>
          <p:nvPr/>
        </p:nvSpPr>
        <p:spPr>
          <a:xfrm>
            <a:off x="7955280" y="4937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read, write</a:t>
            </a:r>
            <a:endParaRPr lang="en-US" sz="1200" dirty="0"/>
          </a:p>
        </p:txBody>
      </p:sp>
      <p:sp>
        <p:nvSpPr>
          <p:cNvPr id="25" name="Diagram caption"/>
          <p:cNvSpPr txBox="1"/>
          <p:nvPr/>
        </p:nvSpPr>
        <p:spPr>
          <a:xfrm>
            <a:off x="548640" y="59253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Both links are loopback only; nothing is reachable from outside the machine.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agent can act, within limits</a:t>
            </a:r>
            <a:endParaRPr lang="en-US" sz="3600" dirty="0"/>
          </a:p>
        </p:txBody>
      </p:sp>
      <p:sp>
        <p:nvSpPr>
          <p:cNvPr id="3" name="Step number 1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Step 1"/>
          <p:cNvSpPr txBox="1"/>
          <p:nvPr/>
        </p:nvSpPr>
        <p:spPr>
          <a:xfrm>
            <a:off x="1097280" y="1600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Tools are offered only when the message is longer than three words and contains a trigger word such as file, note or cpu.</a:t>
            </a:r>
            <a:endParaRPr lang="en-US" sz="1600" dirty="0"/>
          </a:p>
        </p:txBody>
      </p:sp>
      <p:sp>
        <p:nvSpPr>
          <p:cNvPr id="5" name="Step number 2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Step 2"/>
          <p:cNvSpPr txBox="1"/>
          <p:nvPr/>
        </p:nvSpPr>
        <p:spPr>
          <a:xfrm>
            <a:off x="1097280" y="26517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asks for a tool, the server runs it, and the result goes back to the model.</a:t>
            </a:r>
            <a:endParaRPr lang="en-US" sz="1600" dirty="0"/>
          </a:p>
        </p:txBody>
      </p:sp>
      <p:sp>
        <p:nvSpPr>
          <p:cNvPr id="7" name="Step number 3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Step 3"/>
          <p:cNvSpPr txBox="1"/>
          <p:nvPr/>
        </p:nvSpPr>
        <p:spPr>
          <a:xfrm>
            <a:off x="1097280" y="37033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loop stops after 8 rounds and forces a final answer.</a:t>
            </a:r>
            <a:endParaRPr lang="en-US" sz="1600" dirty="0"/>
          </a:p>
        </p:txBody>
      </p:sp>
      <p:sp>
        <p:nvSpPr>
          <p:cNvPr id="9" name="Step number 4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Step 4"/>
          <p:cNvSpPr txBox="1"/>
          <p:nvPr/>
        </p:nvSpPr>
        <p:spPr>
          <a:xfrm>
            <a:off x="1097280" y="47548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Fall back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the model has no tool calling, the server uses a plain completion.</a:t>
            </a:r>
            <a:endParaRPr lang="en-US" sz="1600" dirty="0"/>
          </a:p>
        </p:txBody>
      </p:sp>
      <p:sp>
        <p:nvSpPr>
          <p:cNvPr id="11" name="Read tools panel"/>
          <p:cNvSpPr/>
          <p:nvPr/>
        </p:nvSpPr>
        <p:spPr>
          <a:xfrm>
            <a:off x="5303520" y="1600200"/>
            <a:ext cx="6336792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Read tools"/>
          <p:cNvSpPr txBox="1"/>
          <p:nvPr/>
        </p:nvSpPr>
        <p:spPr>
          <a:xfrm>
            <a:off x="5532120" y="1737360"/>
            <a:ext cx="5897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READ ONLY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get_datetime · get_system_info · list_directory · search_files · read_file · pkg_search · list_installed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Time, system vitals, folders, file search and package lookup, kept to the home directory. Files over 50 KB are refused and output is capped.</a:t>
            </a:r>
            <a:endParaRPr lang="en-US" sz="1100" dirty="0"/>
          </a:p>
        </p:txBody>
      </p:sp>
      <p:sp>
        <p:nvSpPr>
          <p:cNvPr id="13" name="Write tools panel"/>
          <p:cNvSpPr/>
          <p:nvPr/>
        </p:nvSpPr>
        <p:spPr>
          <a:xfrm>
            <a:off x="5303520" y="3429000"/>
            <a:ext cx="6336792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Write tools"/>
          <p:cNvSpPr txBox="1"/>
          <p:nvPr/>
        </p:nvSpPr>
        <p:spPr>
          <a:xfrm>
            <a:off x="5532120" y="356616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WRITES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create_note · move_file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Notes go only to ~/VoiceNotes. Moves stay inside the home directory and never overwrite an existing file.</a:t>
            </a:r>
            <a:endParaRPr lang="en-US" sz="1100" dirty="0"/>
          </a:p>
        </p:txBody>
      </p:sp>
      <p:sp>
        <p:nvSpPr>
          <p:cNvPr id="15" name="Privilege rule panel"/>
          <p:cNvSpPr/>
          <p:nvPr/>
        </p:nvSpPr>
        <p:spPr>
          <a:xfrm>
            <a:off x="5303520" y="4892040"/>
            <a:ext cx="6336792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Privilege rule"/>
          <p:cNvSpPr txBox="1"/>
          <p:nvPr/>
        </p:nvSpPr>
        <p:spPr>
          <a:xfrm>
            <a:off x="5532120" y="502920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PRIVILEGE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model advises install commands instead of running privileged ones.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Documents become searchable memory</a:t>
            </a:r>
            <a:endParaRPr lang="en-US" sz="3600" dirty="0"/>
          </a:p>
        </p:txBody>
      </p:sp>
      <p:sp>
        <p:nvSpPr>
          <p:cNvPr id="3" name="Step number 1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Step 1"/>
          <p:cNvSpPr txBox="1"/>
          <p:nvPr/>
        </p:nvSpPr>
        <p:spPr>
          <a:xfrm>
            <a:off x="1097280" y="16002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Extract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PyMuPDF reads PDFs; text and Markdown files are read directly.</a:t>
            </a:r>
            <a:endParaRPr lang="en-US" sz="1600" dirty="0"/>
          </a:p>
        </p:txBody>
      </p:sp>
      <p:sp>
        <p:nvSpPr>
          <p:cNvPr id="5" name="Step number 2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Step 2"/>
          <p:cNvSpPr txBox="1"/>
          <p:nvPr/>
        </p:nvSpPr>
        <p:spPr>
          <a:xfrm>
            <a:off x="1097280" y="26974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Chunk and embed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 is split into overlapping chunks and embedded by the embedding model loaded in LM Studio.</a:t>
            </a:r>
            <a:endParaRPr lang="en-US" sz="1600" dirty="0"/>
          </a:p>
        </p:txBody>
      </p:sp>
      <p:sp>
        <p:nvSpPr>
          <p:cNvPr id="7" name="Step number 3"/>
          <p:cNvSpPr txBox="1"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Step 3"/>
          <p:cNvSpPr txBox="1"/>
          <p:nvPr/>
        </p:nvSpPr>
        <p:spPr>
          <a:xfrm>
            <a:off x="1097280" y="37947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Index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JSON file per document, so the store is easy to inspect and survives restarts.</a:t>
            </a:r>
            <a:endParaRPr lang="en-US" sz="1600" dirty="0"/>
          </a:p>
        </p:txBody>
      </p:sp>
      <p:sp>
        <p:nvSpPr>
          <p:cNvPr id="9" name="Step number 4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Step 4"/>
          <p:cNvSpPr txBox="1"/>
          <p:nvPr/>
        </p:nvSpPr>
        <p:spPr>
          <a:xfrm>
            <a:off x="1097280" y="48920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Retrieve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Cosine similarity in NumPy picks the chunks; the reply names the files it used.</a:t>
            </a:r>
            <a:endParaRPr lang="en-US" sz="1600" dirty="0"/>
          </a:p>
        </p:txBody>
      </p:sp>
      <p:sp>
        <p:nvSpPr>
          <p:cNvPr id="11" name="Stat panel words per chunk"/>
          <p:cNvSpPr/>
          <p:nvPr/>
        </p:nvSpPr>
        <p:spPr>
          <a:xfrm>
            <a:off x="7040880" y="1600200"/>
            <a:ext cx="21945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Stat words per chunk"/>
          <p:cNvSpPr txBox="1"/>
          <p:nvPr/>
        </p:nvSpPr>
        <p:spPr>
          <a:xfrm>
            <a:off x="7223760" y="17373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300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words per chunk</a:t>
            </a:r>
            <a:endParaRPr lang="en-US" sz="4400" dirty="0"/>
          </a:p>
        </p:txBody>
      </p:sp>
      <p:sp>
        <p:nvSpPr>
          <p:cNvPr id="13" name="Stat panel words of overlap"/>
          <p:cNvSpPr/>
          <p:nvPr/>
        </p:nvSpPr>
        <p:spPr>
          <a:xfrm>
            <a:off x="9445752" y="1600200"/>
            <a:ext cx="21945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tat words of overlap"/>
          <p:cNvSpPr txBox="1"/>
          <p:nvPr/>
        </p:nvSpPr>
        <p:spPr>
          <a:xfrm>
            <a:off x="9628632" y="173736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80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words of overlap</a:t>
            </a:r>
            <a:endParaRPr lang="en-US" sz="4400" dirty="0"/>
          </a:p>
        </p:txBody>
      </p:sp>
      <p:sp>
        <p:nvSpPr>
          <p:cNvPr id="15" name="Stat panel chunks per query"/>
          <p:cNvSpPr/>
          <p:nvPr/>
        </p:nvSpPr>
        <p:spPr>
          <a:xfrm>
            <a:off x="7040880" y="3383280"/>
            <a:ext cx="21945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tat chunks per query"/>
          <p:cNvSpPr txBox="1"/>
          <p:nvPr/>
        </p:nvSpPr>
        <p:spPr>
          <a:xfrm>
            <a:off x="7223760" y="352044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chunks per query</a:t>
            </a:r>
            <a:endParaRPr lang="en-US" sz="4400" dirty="0"/>
          </a:p>
        </p:txBody>
      </p:sp>
      <p:sp>
        <p:nvSpPr>
          <p:cNvPr id="17" name="Stat panel minimum cosine similarity"/>
          <p:cNvSpPr/>
          <p:nvPr/>
        </p:nvSpPr>
        <p:spPr>
          <a:xfrm>
            <a:off x="9445752" y="3383280"/>
            <a:ext cx="219456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Stat minimum cosine similarity"/>
          <p:cNvSpPr txBox="1"/>
          <p:nvPr/>
        </p:nvSpPr>
        <p:spPr>
          <a:xfrm>
            <a:off x="9628632" y="3520440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0.15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minimum cosine similarity</a:t>
            </a:r>
            <a:endParaRPr lang="en-US" sz="4400" dirty="0"/>
          </a:p>
        </p:txBody>
      </p:sp>
      <p:sp>
        <p:nvSpPr>
          <p:cNvPr id="19" name="Retrieval note"/>
          <p:cNvSpPr txBox="1"/>
          <p:nvPr/>
        </p:nvSpPr>
        <p:spPr>
          <a:xfrm>
            <a:off x="7040880" y="5212080"/>
            <a:ext cx="4599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single attached document is passed whole, up to about 6,000 words. With several documents, only the best-matching chunks are used.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lightweight stack, all local</a:t>
            </a:r>
            <a:endParaRPr lang="en-US" sz="3600" dirty="0"/>
          </a:p>
        </p:txBody>
      </p:sp>
      <p:graphicFrame>
        <p:nvGraphicFramePr>
          <p:cNvPr id="8" name="St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949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Speech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faster-whisper (small, int8), Piper ONNX voices, sounddevice in the terminal app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Models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LM Studio for chat and embeddings, via its OpenAI-compatible API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Backend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Python, FastAPI, Uvicorn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Desktop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Electron 35, vanilla HTML, CSS and JavaScript, marked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Documents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PyMuPDF for extraction, NumPy for similarity search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Web UI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Gradio, kept as a simple alternative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Layout panel"/>
          <p:cNvSpPr/>
          <p:nvPr/>
        </p:nvSpPr>
        <p:spPr>
          <a:xfrm>
            <a:off x="7680960" y="1600200"/>
            <a:ext cx="3959352" cy="340156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Repo layout"/>
          <p:cNvSpPr txBox="1"/>
          <p:nvPr/>
        </p:nvSpPr>
        <p:spPr>
          <a:xfrm>
            <a:off x="7955280" y="18288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voice_assistant/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listen.py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electron/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preload.js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renderer/</a:t>
            </a:r>
            <a:endParaRPr lang="en-US" sz="1400" dirty="0"/>
          </a:p>
        </p:txBody>
      </p:sp>
      <p:sp>
        <p:nvSpPr>
          <p:cNvPr id="6" name="Platform note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piper-tts is listed for Linux only in requirements.txt, so other platforms run without spoken replies unless Piper is installed by hand.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it makes possible</a:t>
            </a:r>
            <a:endParaRPr lang="en-US" sz="3600" dirty="0"/>
          </a:p>
        </p:txBody>
      </p:sp>
      <p:sp>
        <p:nvSpPr>
          <p:cNvPr id="3" name="Use case number 1"/>
          <p:cNvSpPr txBox="1"/>
          <p:nvPr/>
        </p:nvSpPr>
        <p:spPr>
          <a:xfrm>
            <a:off x="5486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Use case 1"/>
          <p:cNvSpPr txBox="1"/>
          <p:nvPr/>
        </p:nvSpPr>
        <p:spPr>
          <a:xfrm>
            <a:off x="1234440" y="164592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Chat with your documents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Attach PDFs, text or Markdown, such as reports, lecture notes or manuals, and ask questions. Replies name the files they used.</a:t>
            </a:r>
            <a:endParaRPr lang="en-US" sz="2200" dirty="0"/>
          </a:p>
        </p:txBody>
      </p:sp>
      <p:sp>
        <p:nvSpPr>
          <p:cNvPr id="5" name="Use case number 2"/>
          <p:cNvSpPr txBox="1"/>
          <p:nvPr/>
        </p:nvSpPr>
        <p:spPr>
          <a:xfrm>
            <a:off x="629107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600" dirty="0"/>
          </a:p>
        </p:txBody>
      </p:sp>
      <p:sp>
        <p:nvSpPr>
          <p:cNvPr id="6" name="Use case 2"/>
          <p:cNvSpPr txBox="1"/>
          <p:nvPr/>
        </p:nvSpPr>
        <p:spPr>
          <a:xfrm>
            <a:off x="6976872" y="164592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Hands-free file work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Find, list, read and move files by voice, and dictate notes that land in ~/VoiceNotes as Markdown.</a:t>
            </a:r>
            <a:endParaRPr lang="en-US" sz="2200" dirty="0"/>
          </a:p>
        </p:txBody>
      </p:sp>
      <p:sp>
        <p:nvSpPr>
          <p:cNvPr id="7" name="Use case number 3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Use case 3"/>
          <p:cNvSpPr txBox="1"/>
          <p:nvPr/>
        </p:nvSpPr>
        <p:spPr>
          <a:xfrm>
            <a:off x="1234440" y="379476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System checks and lookups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about CPU, RAM and disk use, or search for a package and get the exact install command for the platform.</a:t>
            </a:r>
            <a:endParaRPr lang="en-US" sz="2200" dirty="0"/>
          </a:p>
        </p:txBody>
      </p:sp>
      <p:sp>
        <p:nvSpPr>
          <p:cNvPr id="9" name="Use case number 4"/>
          <p:cNvSpPr txBox="1"/>
          <p:nvPr/>
        </p:nvSpPr>
        <p:spPr>
          <a:xfrm>
            <a:off x="6291072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Use case 4"/>
          <p:cNvSpPr txBox="1"/>
          <p:nvPr/>
        </p:nvSpPr>
        <p:spPr>
          <a:xfrm>
            <a:off x="6976872" y="3794760"/>
            <a:ext cx="4526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Eyes-free use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Spoken replies, adjustable playback speed and typed input as a fallback.</a:t>
            </a:r>
            <a:endParaRPr lang="en-US" sz="2200" dirty="0"/>
          </a:p>
        </p:txBody>
      </p:sp>
      <p:sp>
        <p:nvSpPr>
          <p:cNvPr id="11" name="Closing line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</a:rPr>
              <a:t>None of it is sent to a cloud service.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eld Notes">
  <a:themeElements>
    <a:clrScheme name="Field Notes">
      <a:dk1>
        <a:srgbClr val="1B1F23"/>
      </a:dk1>
      <a:lt1>
        <a:srgbClr val="FFFFFF"/>
      </a:lt1>
      <a:dk2>
        <a:srgbClr val="56606B"/>
      </a:dk2>
      <a:lt2>
        <a:srgbClr val="F1F2F4"/>
      </a:lt2>
      <a:accent1>
        <a:srgbClr val="D9480F"/>
      </a:accent1>
      <a:accent2>
        <a:srgbClr val="2F5D62"/>
      </a:accent2>
      <a:accent3>
        <a:srgbClr val="8A939D"/>
      </a:accent3>
      <a:accent4>
        <a:srgbClr val="C9CED3"/>
      </a:accent4>
      <a:accent5>
        <a:srgbClr val="9A3412"/>
      </a:accent5>
      <a:accent6>
        <a:srgbClr val="3B4148"/>
      </a:accent6>
      <a:hlink>
        <a:srgbClr val="2F5D62"/>
      </a:hlink>
      <a:folHlink>
        <a:srgbClr val="56606B"/>
      </a:folHlink>
    </a:clrScheme>
    <a:fontScheme name="Field No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fully on-device voice assistant</dc:title>
  <dc:subject>Project presentation</dc:subject>
  <dc:creator>PptxGenJS</dc:creator>
  <cp:lastModifiedBy>PptxGenJS</cp:lastModifiedBy>
  <cp:revision>1</cp:revision>
  <dcterms:created xsi:type="dcterms:W3CDTF">2026-10-11T21:30:04Z</dcterms:created>
  <dcterms:modified xsi:type="dcterms:W3CDTF">2026-10-11T21:30:04Z</dcterms:modified>
</cp:coreProperties>
</file>